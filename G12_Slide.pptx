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vi-VN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MobileNetV2</c:v>
          </c:tx>
          <c:spPr>
            <a:ln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93.78</c:v>
              </c:pt>
              <c:pt idx="1">
                <c:v>33.51</c:v>
              </c:pt>
              <c:pt idx="2">
                <c:v>22.22</c:v>
              </c:pt>
              <c:pt idx="3">
                <c:v>17.510000000000002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499-477B-B916-5B5EA372F90F}"/>
            </c:ext>
          </c:extLst>
        </c:ser>
        <c:ser>
          <c:idx val="1"/>
          <c:order val="1"/>
          <c:tx>
            <c:v>ResNet18</c:v>
          </c:tx>
          <c:spPr>
            <a:ln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93.52</c:v>
              </c:pt>
              <c:pt idx="1">
                <c:v>13.61</c:v>
              </c:pt>
              <c:pt idx="2">
                <c:v>14.5</c:v>
              </c:pt>
              <c:pt idx="3">
                <c:v>19.09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499-477B-B916-5B5EA372F90F}"/>
            </c:ext>
          </c:extLst>
        </c:ser>
        <c:ser>
          <c:idx val="2"/>
          <c:order val="2"/>
          <c:tx>
            <c:v>EfficientNet-B0</c:v>
          </c:tx>
          <c:spPr>
            <a:ln w="28575">
              <a:solidFill>
                <a:srgbClr val="7C3AED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96.61</c:v>
              </c:pt>
              <c:pt idx="1">
                <c:v>12.05</c:v>
              </c:pt>
              <c:pt idx="2">
                <c:v>10.53</c:v>
              </c:pt>
              <c:pt idx="3">
                <c:v>10.27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7499-477B-B916-5B5EA372F9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Epsilon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vi-VN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MobileNetV2 Baseline</c:v>
          </c:tx>
          <c:spPr>
            <a:ln w="19050">
              <a:solidFill>
                <a:srgbClr val="94A3B8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93.78</c:v>
              </c:pt>
              <c:pt idx="1">
                <c:v>33.51</c:v>
              </c:pt>
              <c:pt idx="2">
                <c:v>22.22</c:v>
              </c:pt>
              <c:pt idx="3">
                <c:v>17.510000000000002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BB4-415F-A860-6E4B8DE6E2D5}"/>
            </c:ext>
          </c:extLst>
        </c:ser>
        <c:ser>
          <c:idx val="1"/>
          <c:order val="1"/>
          <c:tx>
            <c:v>MobileNetV2 FGSM AT</c:v>
          </c:tx>
          <c:spPr>
            <a:ln w="28575">
              <a:solidFill>
                <a:srgbClr val="0F766E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83.15</c:v>
              </c:pt>
              <c:pt idx="1">
                <c:v>76.63</c:v>
              </c:pt>
              <c:pt idx="2">
                <c:v>77.459999999999994</c:v>
              </c:pt>
              <c:pt idx="3">
                <c:v>62.67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BB4-415F-A860-6E4B8DE6E2D5}"/>
            </c:ext>
          </c:extLst>
        </c:ser>
        <c:ser>
          <c:idx val="2"/>
          <c:order val="2"/>
          <c:tx>
            <c:v>ResNet18 Baseline</c:v>
          </c:tx>
          <c:spPr>
            <a:ln w="19050">
              <a:solidFill>
                <a:srgbClr val="CBD5E1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93.52</c:v>
              </c:pt>
              <c:pt idx="1">
                <c:v>13.61</c:v>
              </c:pt>
              <c:pt idx="2">
                <c:v>14.5</c:v>
              </c:pt>
              <c:pt idx="3">
                <c:v>19.09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ABB4-415F-A860-6E4B8DE6E2D5}"/>
            </c:ext>
          </c:extLst>
        </c:ser>
        <c:ser>
          <c:idx val="3"/>
          <c:order val="3"/>
          <c:tx>
            <c:v>ResNet18 FGSM AT</c:v>
          </c:tx>
          <c:spPr>
            <a:ln w="28575">
              <a:solidFill>
                <a:srgbClr val="2563EB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89.79</c:v>
              </c:pt>
              <c:pt idx="1">
                <c:v>78.77</c:v>
              </c:pt>
              <c:pt idx="2">
                <c:v>78.61</c:v>
              </c:pt>
              <c:pt idx="3">
                <c:v>72.47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ABB4-415F-A860-6E4B8DE6E2D5}"/>
            </c:ext>
          </c:extLst>
        </c:ser>
        <c:ser>
          <c:idx val="4"/>
          <c:order val="4"/>
          <c:tx>
            <c:v>EfficientNet-B0 Baseline</c:v>
          </c:tx>
          <c:spPr>
            <a:ln w="19050">
              <a:solidFill>
                <a:srgbClr val="E9D5FF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96.61</c:v>
              </c:pt>
              <c:pt idx="1">
                <c:v>12.05</c:v>
              </c:pt>
              <c:pt idx="2">
                <c:v>10.53</c:v>
              </c:pt>
              <c:pt idx="3">
                <c:v>10.27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ABB4-415F-A860-6E4B8DE6E2D5}"/>
            </c:ext>
          </c:extLst>
        </c:ser>
        <c:ser>
          <c:idx val="5"/>
          <c:order val="5"/>
          <c:tx>
            <c:v>EfficientNet-B0 FGSM AT</c:v>
          </c:tx>
          <c:spPr>
            <a:ln w="28575">
              <a:solidFill>
                <a:srgbClr val="7C3AED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4"/>
              <c:pt idx="0">
                <c:v>0</c:v>
              </c:pt>
              <c:pt idx="1">
                <c:v>2/255</c:v>
              </c:pt>
              <c:pt idx="2">
                <c:v>4/255</c:v>
              </c:pt>
              <c:pt idx="3">
                <c:v>8/255</c:v>
              </c:pt>
            </c:strLit>
          </c:cat>
          <c:val>
            <c:numLit>
              <c:formatCode>0</c:formatCode>
              <c:ptCount val="4"/>
              <c:pt idx="0">
                <c:v>66.290000000000006</c:v>
              </c:pt>
              <c:pt idx="1">
                <c:v>89.36</c:v>
              </c:pt>
              <c:pt idx="2">
                <c:v>88.87</c:v>
              </c:pt>
              <c:pt idx="3">
                <c:v>80.41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ABB4-415F-A860-6E4B8DE6E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67A0512F-0BF4-41F9-8D89-42B6FC096A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C96014C9-871E-4A30-9799-5AE7ECB4E1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Hình ảnh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9132" y="1066800"/>
            <a:ext cx="2186985" cy="3524250"/>
          </a:xfrm>
          <a:prstGeom prst="roundRect">
            <a:avLst>
              <a:gd name="adj" fmla="val 3478"/>
            </a:avLst>
          </a:prstGeom>
        </p:spPr>
      </p:pic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03B97BE-72E0-4B50-808E-E9D9744B437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BÁO CÁO MÔN HỌC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A559AC98-9338-4884-939F-73D15A187A8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723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9F983952-17B5-4682-9391-FF1C29A4E1C6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FGSM attack · Adversarial training · CIFAR-10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E0F5DF39-EFEE-45FC-838B-49DA15827080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Nhóm 12 · IT5416 · GVHD: TS. Nguyễn Đức Anh</a:t>
            </a:r>
          </a:p>
        </p:txBody>
      </p:sp>
    </p:spTree>
    <p:extLst>
      <p:ext uri="{BB962C8B-B14F-4D97-AF65-F5344CB8AC3E}">
        <p14:creationId xmlns:p14="http://schemas.microsoft.com/office/powerpoint/2010/main" val="384920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17F834A1-8AFF-4AFC-9AF8-903799772B4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BỐI CẢNH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EAD53673-51BB-4D96-A6C1-53808A03870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Vấn đề nghiên cứu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BDD7F578-CDED-47E6-9AE7-29B60F3DBD90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794B869-25A2-4B18-A83B-7A5B0A9113C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38084A-C069-4356-A5E7-4D26B177EB0B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990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Mô hình học sâu có thể đạt accuracy cao trên dữ liệu sạch, nhưng vẫn bị đánh lừa bởi nhiễu rất nhỏ mà mắt người khó nhận biết.</a:t>
            </a:r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7CF6B3CB-C4E8-4977-BCBC-D61FAA034B41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86587BC6-E523-4A6E-9206-A46D5CD5ED05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908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Adversarial examples làm thay đổi dự đoán dù ảnh gần như không đổi về mặt thị giác.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924F4B0A-A0F8-4545-BFA1-BB320DEF3C8A}"/>
              </a:ext>
            </a:extLst>
          </p:cNvPr>
          <p:cNvSpPr>
            <a:spLocks noGrp="1"/>
          </p:cNvSpPr>
          <p:nvPr/>
        </p:nvSpPr>
        <p:spPr>
          <a:xfrm>
            <a:off x="990600" y="377190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C1EBCDE3-6BCA-4C3A-A689-819D5874CDAB}"/>
              </a:ext>
            </a:extLst>
          </p:cNvPr>
          <p:cNvSpPr>
            <a:spLocks noGrp="1"/>
          </p:cNvSpPr>
          <p:nvPr/>
        </p:nvSpPr>
        <p:spPr>
          <a:xfrm>
            <a:off x="1238250" y="3695700"/>
            <a:ext cx="908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Rủi ro ảnh hưởng trực tiếp tới các hệ thống AI cần độ tin cậy cao.</a:t>
            </a: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34E5600E-1F29-4F50-B012-3CC27AB15D3F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CAB707E0-D18C-4EDA-88DD-34CFFCF3FA90}"/>
              </a:ext>
            </a:extLst>
          </p:cNvPr>
          <p:cNvSpPr>
            <a:spLocks noGrp="1"/>
          </p:cNvSpPr>
          <p:nvPr/>
        </p:nvSpPr>
        <p:spPr>
          <a:xfrm>
            <a:off x="1238250" y="4248150"/>
            <a:ext cx="908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Cần đánh giá robustness, không chỉ đánh giá accuracy trên dữ liệu sạch.</a:t>
            </a:r>
          </a:p>
        </p:txBody>
      </p:sp>
    </p:spTree>
    <p:extLst>
      <p:ext uri="{BB962C8B-B14F-4D97-AF65-F5344CB8AC3E}">
        <p14:creationId xmlns:p14="http://schemas.microsoft.com/office/powerpoint/2010/main" val="100173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E0AE6830-1AC5-4968-9BE6-A83D9C065C6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TỔNG QUAN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477AB7A8-57DD-479E-94DC-0ACDBC47A8F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Mục tiêu và quy trình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0C5795DE-E38A-4854-AABA-509D69A77DE2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643D278-2602-49A6-B943-B0198BE1509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BCEEE6E2-37AB-4211-8D50-7B065934F28C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2266950" cy="24765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4C1391F5-604F-4382-9168-19B29DED42B2}"/>
              </a:ext>
            </a:extLst>
          </p:cNvPr>
          <p:cNvSpPr>
            <a:spLocks noGrp="1"/>
          </p:cNvSpPr>
          <p:nvPr/>
        </p:nvSpPr>
        <p:spPr>
          <a:xfrm>
            <a:off x="1562100" y="2228850"/>
            <a:ext cx="781050" cy="7810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F36E2B03-9E5A-408A-96CD-B4F1D582807E}"/>
              </a:ext>
            </a:extLst>
          </p:cNvPr>
          <p:cNvSpPr>
            <a:spLocks noGrp="1"/>
          </p:cNvSpPr>
          <p:nvPr/>
        </p:nvSpPr>
        <p:spPr>
          <a:xfrm>
            <a:off x="1809750" y="24193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0C5C6B54-6171-4F9B-A822-501F56C2D6F7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Fine-tune baseline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E2272AD7-86DE-4769-85FC-AE4E4FC64E5D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MobileNetV2, ResNet18, EfficientNet-B0 trên CIFAR-10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9C0CE70F-F5BA-4B4F-A9C1-9247DC011D60}"/>
              </a:ext>
            </a:extLst>
          </p:cNvPr>
          <p:cNvSpPr>
            <a:spLocks noGrp="1"/>
          </p:cNvSpPr>
          <p:nvPr/>
        </p:nvSpPr>
        <p:spPr>
          <a:xfrm>
            <a:off x="3524250" y="2000250"/>
            <a:ext cx="2266950" cy="24765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08BD4DE8-2846-489E-8130-57746C320449}"/>
              </a:ext>
            </a:extLst>
          </p:cNvPr>
          <p:cNvSpPr>
            <a:spLocks noGrp="1"/>
          </p:cNvSpPr>
          <p:nvPr/>
        </p:nvSpPr>
        <p:spPr>
          <a:xfrm>
            <a:off x="4267200" y="2228850"/>
            <a:ext cx="781050" cy="7810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CB0C8113-6566-48F0-B612-35302F925D01}"/>
              </a:ext>
            </a:extLst>
          </p:cNvPr>
          <p:cNvSpPr>
            <a:spLocks noGrp="1"/>
          </p:cNvSpPr>
          <p:nvPr/>
        </p:nvSpPr>
        <p:spPr>
          <a:xfrm>
            <a:off x="4514850" y="24193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E83305D-44B6-4CD8-B909-2FEDACC6DA05}"/>
              </a:ext>
            </a:extLst>
          </p:cNvPr>
          <p:cNvSpPr>
            <a:spLocks noGrp="1"/>
          </p:cNvSpPr>
          <p:nvPr/>
        </p:nvSpPr>
        <p:spPr>
          <a:xfrm>
            <a:off x="3733800" y="32956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Tấn công FGSM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E6F4E140-E1AB-4855-93A1-FCE211E0D61F}"/>
              </a:ext>
            </a:extLst>
          </p:cNvPr>
          <p:cNvSpPr>
            <a:spLocks noGrp="1"/>
          </p:cNvSpPr>
          <p:nvPr/>
        </p:nvSpPr>
        <p:spPr>
          <a:xfrm>
            <a:off x="3733800" y="371475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Sinh ảnh đối nghịch với ε = 0, 2/255, 4/255, 8/255</a:t>
            </a:r>
          </a:p>
        </p:txBody>
      </p:sp>
      <p:sp>
        <p:nvSpPr>
          <p:cNvPr id="15" name="Hình chữ nhật: Góc Tròn 14">
            <a:extLst>
              <a:ext uri="{FF2B5EF4-FFF2-40B4-BE49-F238E27FC236}">
                <a16:creationId xmlns:a16="http://schemas.microsoft.com/office/drawing/2014/main" id="{C4400C74-F1DE-4C8B-9D7E-B673B1FB4E83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2266950" cy="24765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77CC240E-A073-4A0E-B7E3-060AB6BC0158}"/>
              </a:ext>
            </a:extLst>
          </p:cNvPr>
          <p:cNvSpPr>
            <a:spLocks noGrp="1"/>
          </p:cNvSpPr>
          <p:nvPr/>
        </p:nvSpPr>
        <p:spPr>
          <a:xfrm>
            <a:off x="6972300" y="2228850"/>
            <a:ext cx="781050" cy="7810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360F4AEE-CEB6-45B9-BE06-FB9368E12AB9}"/>
              </a:ext>
            </a:extLst>
          </p:cNvPr>
          <p:cNvSpPr>
            <a:spLocks noGrp="1"/>
          </p:cNvSpPr>
          <p:nvPr/>
        </p:nvSpPr>
        <p:spPr>
          <a:xfrm>
            <a:off x="7219950" y="24193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A0491E47-28EB-4E31-9FD9-4AB851ACEA3B}"/>
              </a:ext>
            </a:extLst>
          </p:cNvPr>
          <p:cNvSpPr>
            <a:spLocks noGrp="1"/>
          </p:cNvSpPr>
          <p:nvPr/>
        </p:nvSpPr>
        <p:spPr>
          <a:xfrm>
            <a:off x="6438900" y="32956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Huấn luyện đối nghịch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9F8D7DA7-ED1F-4E54-BCF6-149D3A56CF9E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Kết hợp ảnh sạch và ảnh FGSM trong quá trình huấn luyện</a:t>
            </a:r>
          </a:p>
        </p:txBody>
      </p:sp>
      <p:sp>
        <p:nvSpPr>
          <p:cNvPr id="20" name="Hình chữ nhật: Góc Tròn 19">
            <a:extLst>
              <a:ext uri="{FF2B5EF4-FFF2-40B4-BE49-F238E27FC236}">
                <a16:creationId xmlns:a16="http://schemas.microsoft.com/office/drawing/2014/main" id="{8DC47DB3-5E84-48DB-B9F1-FA4B02DF0F18}"/>
              </a:ext>
            </a:extLst>
          </p:cNvPr>
          <p:cNvSpPr>
            <a:spLocks noGrp="1"/>
          </p:cNvSpPr>
          <p:nvPr/>
        </p:nvSpPr>
        <p:spPr>
          <a:xfrm>
            <a:off x="8934450" y="2000250"/>
            <a:ext cx="2266950" cy="24765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F7418069-5B9A-4BCD-B3E1-9C50C4F75863}"/>
              </a:ext>
            </a:extLst>
          </p:cNvPr>
          <p:cNvSpPr>
            <a:spLocks noGrp="1"/>
          </p:cNvSpPr>
          <p:nvPr/>
        </p:nvSpPr>
        <p:spPr>
          <a:xfrm>
            <a:off x="9677400" y="2228850"/>
            <a:ext cx="781050" cy="781050"/>
          </a:xfrm>
          <a:prstGeom prst="ellipse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5E40AF0D-222F-4AD8-A434-D5547A501F0A}"/>
              </a:ext>
            </a:extLst>
          </p:cNvPr>
          <p:cNvSpPr>
            <a:spLocks noGrp="1"/>
          </p:cNvSpPr>
          <p:nvPr/>
        </p:nvSpPr>
        <p:spPr>
          <a:xfrm>
            <a:off x="9925050" y="24193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E7753E1C-9369-41F4-8B85-57269C03E2F3}"/>
              </a:ext>
            </a:extLst>
          </p:cNvPr>
          <p:cNvSpPr>
            <a:spLocks noGrp="1"/>
          </p:cNvSpPr>
          <p:nvPr/>
        </p:nvSpPr>
        <p:spPr>
          <a:xfrm>
            <a:off x="9144000" y="32956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So sánh kết quả</a:t>
            </a:r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713706B9-9CE8-4C18-99E0-CA5A57F5381F}"/>
              </a:ext>
            </a:extLst>
          </p:cNvPr>
          <p:cNvSpPr>
            <a:spLocks noGrp="1"/>
          </p:cNvSpPr>
          <p:nvPr/>
        </p:nvSpPr>
        <p:spPr>
          <a:xfrm>
            <a:off x="9144000" y="371475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Đánh giá trade-off giữa clean accuracy và adversarial robustness</a:t>
            </a:r>
          </a:p>
        </p:txBody>
      </p:sp>
    </p:spTree>
    <p:extLst>
      <p:ext uri="{BB962C8B-B14F-4D97-AF65-F5344CB8AC3E}">
        <p14:creationId xmlns:p14="http://schemas.microsoft.com/office/powerpoint/2010/main" val="163039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F88BEF8E-DB93-43A4-A7AE-F56A2040BD2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DỮ LIỆU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F46EF95B-78AD-4BB0-9BE4-D494AA8050C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Dữ liệu CIFAR-10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B7C0376A-928D-464F-99F6-8B2430D63C2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BAAF7060-1D93-42E1-8247-5A93F9E0F292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9833B23B-2A82-4B67-9D06-D797D29DDF8F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B38450A6-CCCF-4C46-ACB1-32B013511B5A}"/>
              </a:ext>
            </a:extLst>
          </p:cNvPr>
          <p:cNvSpPr>
            <a:spLocks noGrp="1"/>
          </p:cNvSpPr>
          <p:nvPr/>
        </p:nvSpPr>
        <p:spPr>
          <a:xfrm>
            <a:off x="971550" y="22098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60.000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32F277CB-A5C3-41AD-995C-DC749EDC1844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ảnh màu 32×32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F485BEC6-CA01-423C-8C4D-7CE281937FD9}"/>
              </a:ext>
            </a:extLst>
          </p:cNvPr>
          <p:cNvSpPr>
            <a:spLocks noGrp="1"/>
          </p:cNvSpPr>
          <p:nvPr/>
        </p:nvSpPr>
        <p:spPr>
          <a:xfrm>
            <a:off x="3476625" y="20002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94AAF07D-8BC8-42F3-A66C-DB5A13B2773D}"/>
              </a:ext>
            </a:extLst>
          </p:cNvPr>
          <p:cNvSpPr>
            <a:spLocks noGrp="1"/>
          </p:cNvSpPr>
          <p:nvPr/>
        </p:nvSpPr>
        <p:spPr>
          <a:xfrm>
            <a:off x="3686175" y="22098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9EF8B3DE-9D18-423E-8C9A-BA2565373754}"/>
              </a:ext>
            </a:extLst>
          </p:cNvPr>
          <p:cNvSpPr>
            <a:spLocks noGrp="1"/>
          </p:cNvSpPr>
          <p:nvPr/>
        </p:nvSpPr>
        <p:spPr>
          <a:xfrm>
            <a:off x="3667125" y="27813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lớp đối tượng cân bằng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1B5F8DAE-ED21-48D5-8AD3-1EA6AE59A877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C1C10C04-DE89-4C93-8383-8B80C1645D0B}"/>
              </a:ext>
            </a:extLst>
          </p:cNvPr>
          <p:cNvSpPr>
            <a:spLocks noGrp="1"/>
          </p:cNvSpPr>
          <p:nvPr/>
        </p:nvSpPr>
        <p:spPr>
          <a:xfrm>
            <a:off x="6400800" y="22098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50k / 10k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9D55398D-1521-4F27-961B-562CEF357795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train / test</a:t>
            </a:r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C99BC394-498D-4705-A090-30EE84871E41}"/>
              </a:ext>
            </a:extLst>
          </p:cNvPr>
          <p:cNvSpPr>
            <a:spLocks noGrp="1"/>
          </p:cNvSpPr>
          <p:nvPr/>
        </p:nvSpPr>
        <p:spPr>
          <a:xfrm>
            <a:off x="8905875" y="20002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6B26D67A-AAB8-4715-A68F-0DDCB68918E4}"/>
              </a:ext>
            </a:extLst>
          </p:cNvPr>
          <p:cNvSpPr>
            <a:spLocks noGrp="1"/>
          </p:cNvSpPr>
          <p:nvPr/>
        </p:nvSpPr>
        <p:spPr>
          <a:xfrm>
            <a:off x="9115425" y="22098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7C3AED"/>
                </a:solidFill>
              </a:defRPr>
            </a:pPr>
            <a:r>
              <a:rPr sz="2550" b="1">
                <a:solidFill>
                  <a:srgbClr val="7C3AED"/>
                </a:solidFill>
              </a:rPr>
              <a:t>224×224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94B2311F-423D-4E15-B9C6-19A42EF4FA52}"/>
              </a:ext>
            </a:extLst>
          </p:cNvPr>
          <p:cNvSpPr>
            <a:spLocks noGrp="1"/>
          </p:cNvSpPr>
          <p:nvPr/>
        </p:nvSpPr>
        <p:spPr>
          <a:xfrm>
            <a:off x="9096375" y="27813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resize để dùng pretrained CNN</a:t>
            </a:r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092C0CB3-2AF9-4DA1-A8F9-4A648D78668F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E7F57FB7-C96F-4A3B-9B93-F1EF534D9447}"/>
              </a:ext>
            </a:extLst>
          </p:cNvPr>
          <p:cNvSpPr>
            <a:spLocks noGrp="1"/>
          </p:cNvSpPr>
          <p:nvPr/>
        </p:nvSpPr>
        <p:spPr>
          <a:xfrm>
            <a:off x="1390650" y="4286250"/>
            <a:ext cx="908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Phù hợp để triển khai nhanh nhiều mức nhiễu và so sánh giữa mô hình.</a:t>
            </a:r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36F0842F-1C68-417D-9505-271912DEBE4B}"/>
              </a:ext>
            </a:extLst>
          </p:cNvPr>
          <p:cNvSpPr>
            <a:spLocks noGrp="1"/>
          </p:cNvSpPr>
          <p:nvPr/>
        </p:nvSpPr>
        <p:spPr>
          <a:xfrm>
            <a:off x="1143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C70B603B-160A-4487-BE60-4625553AEDF9}"/>
              </a:ext>
            </a:extLst>
          </p:cNvPr>
          <p:cNvSpPr>
            <a:spLocks noGrp="1"/>
          </p:cNvSpPr>
          <p:nvPr/>
        </p:nvSpPr>
        <p:spPr>
          <a:xfrm>
            <a:off x="1390650" y="4743450"/>
            <a:ext cx="908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Độ phân giải thấp khiến tác động của nhiễu đối nghịch lên đặc trưng mô hình dễ quan sát.</a:t>
            </a:r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9BC246F8-83E2-4A44-AF9C-85D25229A73A}"/>
              </a:ext>
            </a:extLst>
          </p:cNvPr>
          <p:cNvSpPr>
            <a:spLocks noGrp="1"/>
          </p:cNvSpPr>
          <p:nvPr/>
        </p:nvSpPr>
        <p:spPr>
          <a:xfrm>
            <a:off x="1143000" y="52768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04C9697B-7CB2-4F56-824C-15C268A471A3}"/>
              </a:ext>
            </a:extLst>
          </p:cNvPr>
          <p:cNvSpPr>
            <a:spLocks noGrp="1"/>
          </p:cNvSpPr>
          <p:nvPr/>
        </p:nvSpPr>
        <p:spPr>
          <a:xfrm>
            <a:off x="1390650" y="5200650"/>
            <a:ext cx="908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Tiền xử lý cần nhất quán giữa huấn luyện, kiểm thử và sinh mẫu đối nghịch.</a:t>
            </a:r>
          </a:p>
        </p:txBody>
      </p:sp>
    </p:spTree>
    <p:extLst>
      <p:ext uri="{BB962C8B-B14F-4D97-AF65-F5344CB8AC3E}">
        <p14:creationId xmlns:p14="http://schemas.microsoft.com/office/powerpoint/2010/main" val="206100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9EE1420B-DF20-4330-BA8C-02518E23FB4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MÔ HÌNH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287B437F-2D62-47CF-9EF4-F5F64CA1289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Ba mô hình baseline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DCA86630-025E-42AF-B3EC-B5C9D588D48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7F477B2-9F1A-43AB-BBB1-5E0AA9D39B2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374B0A11-B293-4E69-A1A7-3E9480470D0A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314325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EB1C663-5AB5-4037-838A-DCECE22FC9CA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3143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9FDB8411-8A45-4673-B95C-BAB90F542AB9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MobileNetV2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9275DCF1-6735-4DAF-97CA-7D3F98487F4D}"/>
              </a:ext>
            </a:extLst>
          </p:cNvPr>
          <p:cNvSpPr>
            <a:spLocks noGrp="1"/>
          </p:cNvSpPr>
          <p:nvPr/>
        </p:nvSpPr>
        <p:spPr>
          <a:xfrm>
            <a:off x="1104900" y="28956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3.5M tham số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AC58FB65-53DC-4126-BC3E-91D15C3FF3EC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26479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Nhẹ, dùng depthwise separable convolution; phù hợp thiết bị tài nguyên thấp.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46469AA8-333F-45AD-8D71-D633BEFFEEF2}"/>
              </a:ext>
            </a:extLst>
          </p:cNvPr>
          <p:cNvSpPr>
            <a:spLocks noGrp="1"/>
          </p:cNvSpPr>
          <p:nvPr/>
        </p:nvSpPr>
        <p:spPr>
          <a:xfrm>
            <a:off x="4572000" y="1981200"/>
            <a:ext cx="314325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DF1C4800-28F7-4B59-B8DB-EB995A3B3A5D}"/>
              </a:ext>
            </a:extLst>
          </p:cNvPr>
          <p:cNvSpPr>
            <a:spLocks noGrp="1"/>
          </p:cNvSpPr>
          <p:nvPr/>
        </p:nvSpPr>
        <p:spPr>
          <a:xfrm>
            <a:off x="4572000" y="1981200"/>
            <a:ext cx="3143250" cy="952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F8617DC5-3E4C-48C9-AE31-5C6E7DBD1769}"/>
              </a:ext>
            </a:extLst>
          </p:cNvPr>
          <p:cNvSpPr>
            <a:spLocks noGrp="1"/>
          </p:cNvSpPr>
          <p:nvPr/>
        </p:nvSpPr>
        <p:spPr>
          <a:xfrm>
            <a:off x="4819650" y="23050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ResNet18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64C1E37-EB8F-4FB2-8A26-27D0DB0A8C11}"/>
              </a:ext>
            </a:extLst>
          </p:cNvPr>
          <p:cNvSpPr>
            <a:spLocks noGrp="1"/>
          </p:cNvSpPr>
          <p:nvPr/>
        </p:nvSpPr>
        <p:spPr>
          <a:xfrm>
            <a:off x="4819650" y="28956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11.7M tham số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14BC524F-5255-44EA-96F3-44336F1968DD}"/>
              </a:ext>
            </a:extLst>
          </p:cNvPr>
          <p:cNvSpPr>
            <a:spLocks noGrp="1"/>
          </p:cNvSpPr>
          <p:nvPr/>
        </p:nvSpPr>
        <p:spPr>
          <a:xfrm>
            <a:off x="4819650" y="3429000"/>
            <a:ext cx="26479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Residual connections giúp huấn luyện mạng sâu ổn định; baseline CNN phổ biến.</a:t>
            </a:r>
          </a:p>
        </p:txBody>
      </p:sp>
      <p:sp>
        <p:nvSpPr>
          <p:cNvPr id="15" name="Hình chữ nhật: Góc Tròn 14">
            <a:extLst>
              <a:ext uri="{FF2B5EF4-FFF2-40B4-BE49-F238E27FC236}">
                <a16:creationId xmlns:a16="http://schemas.microsoft.com/office/drawing/2014/main" id="{14F07786-F620-4300-BCED-C13EECE7A6F5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143250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B6203913-E143-430B-915F-6E75AD13A0A7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143250" cy="952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E183013C-1889-4B8D-840A-CBED66CC88D2}"/>
              </a:ext>
            </a:extLst>
          </p:cNvPr>
          <p:cNvSpPr>
            <a:spLocks noGrp="1"/>
          </p:cNvSpPr>
          <p:nvPr/>
        </p:nvSpPr>
        <p:spPr>
          <a:xfrm>
            <a:off x="8534400" y="23050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EfficientNet-B0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C1148FC9-5348-4E2D-80F4-1FEA93AB0FBF}"/>
              </a:ext>
            </a:extLst>
          </p:cNvPr>
          <p:cNvSpPr>
            <a:spLocks noGrp="1"/>
          </p:cNvSpPr>
          <p:nvPr/>
        </p:nvSpPr>
        <p:spPr>
          <a:xfrm>
            <a:off x="8534400" y="28956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5.3M tham số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5E4A82E9-C2D0-4807-8E30-2046C7DAEB66}"/>
              </a:ext>
            </a:extLst>
          </p:cNvPr>
          <p:cNvSpPr>
            <a:spLocks noGrp="1"/>
          </p:cNvSpPr>
          <p:nvPr/>
        </p:nvSpPr>
        <p:spPr>
          <a:xfrm>
            <a:off x="8534400" y="3429000"/>
            <a:ext cx="26479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Compound scaling và MBConv; tối ưu giữa độ chính xác và chi phí tính toán.</a:t>
            </a:r>
          </a:p>
        </p:txBody>
      </p:sp>
    </p:spTree>
    <p:extLst>
      <p:ext uri="{BB962C8B-B14F-4D97-AF65-F5344CB8AC3E}">
        <p14:creationId xmlns:p14="http://schemas.microsoft.com/office/powerpoint/2010/main" val="192397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AB1BF2CE-7861-4547-B29C-9207E2EA912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MÔ HÌNH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BC060FE6-0270-4888-83BE-6D18EEDAC3E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Cơ sở toán học của baseline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4385F112-ADE7-4A50-BBF6-CFADAE767A4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60ADD3D-26A1-46D9-BA20-BE0430AA3F6F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01F1FF73-3B41-4D20-9FF9-961EB333F0FD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Mỗi baseline học một hàm phân loại f_theta(x), biến ảnh đầu vào thành vector điểm số cho 10 lớp CIFAR-10.</a:t>
            </a:r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8A333810-B082-4B7B-AC57-6658FAE1529B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762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24FCD18B-B777-43E8-A092-E0A8D884F0DC}"/>
              </a:ext>
            </a:extLst>
          </p:cNvPr>
          <p:cNvSpPr>
            <a:spLocks noGrp="1"/>
          </p:cNvSpPr>
          <p:nvPr/>
        </p:nvSpPr>
        <p:spPr>
          <a:xfrm>
            <a:off x="1200150" y="28765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Dự đoán nhãn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66EF70BD-0F8C-47DA-8B42-8CC4AB331577}"/>
              </a:ext>
            </a:extLst>
          </p:cNvPr>
          <p:cNvSpPr>
            <a:spLocks noGrp="1"/>
          </p:cNvSpPr>
          <p:nvPr/>
        </p:nvSpPr>
        <p:spPr>
          <a:xfrm>
            <a:off x="1200150" y="33718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i="1">
                <a:solidFill>
                  <a:srgbClr val="0F172A"/>
                </a:solidFill>
              </a:defRPr>
            </a:pPr>
            <a:r>
              <a:rPr sz="2100" i="1">
                <a:solidFill>
                  <a:srgbClr val="0F172A"/>
                </a:solidFill>
              </a:rPr>
              <a:t>y_hat = argmax_k softmax(f_theta(x))_k</a:t>
            </a:r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FC66D056-8C9D-4C14-9808-50704C35E0EB}"/>
              </a:ext>
            </a:extLst>
          </p:cNvPr>
          <p:cNvSpPr>
            <a:spLocks noGrp="1"/>
          </p:cNvSpPr>
          <p:nvPr/>
        </p:nvSpPr>
        <p:spPr>
          <a:xfrm>
            <a:off x="6553200" y="2571750"/>
            <a:ext cx="4762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53B51448-F8DA-4F29-8F99-D53635B2079A}"/>
              </a:ext>
            </a:extLst>
          </p:cNvPr>
          <p:cNvSpPr>
            <a:spLocks noGrp="1"/>
          </p:cNvSpPr>
          <p:nvPr/>
        </p:nvSpPr>
        <p:spPr>
          <a:xfrm>
            <a:off x="6877050" y="28765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Hàm mất mát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F8ABB58E-D299-4EAA-B885-EC5D7ABCA06A}"/>
              </a:ext>
            </a:extLst>
          </p:cNvPr>
          <p:cNvSpPr>
            <a:spLocks noGrp="1"/>
          </p:cNvSpPr>
          <p:nvPr/>
        </p:nvSpPr>
        <p:spPr>
          <a:xfrm>
            <a:off x="6877050" y="33718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i="1">
                <a:solidFill>
                  <a:srgbClr val="0F172A"/>
                </a:solidFill>
              </a:defRPr>
            </a:pPr>
            <a:r>
              <a:rPr sz="2100" i="1">
                <a:solidFill>
                  <a:srgbClr val="0F172A"/>
                </a:solidFill>
              </a:rPr>
              <a:t>L_clean(theta) = CE(f_theta(x), y)</a:t>
            </a:r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16D0A8A2-C7E4-4A70-B908-8F903AE0D799}"/>
              </a:ext>
            </a:extLst>
          </p:cNvPr>
          <p:cNvSpPr>
            <a:spLocks noGrp="1"/>
          </p:cNvSpPr>
          <p:nvPr/>
        </p:nvSpPr>
        <p:spPr>
          <a:xfrm>
            <a:off x="1123950" y="474345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7A27D54-E4A4-41A6-96D1-1D7F8EC77DFF}"/>
              </a:ext>
            </a:extLst>
          </p:cNvPr>
          <p:cNvSpPr>
            <a:spLocks noGrp="1"/>
          </p:cNvSpPr>
          <p:nvPr/>
        </p:nvSpPr>
        <p:spPr>
          <a:xfrm>
            <a:off x="1371600" y="4667250"/>
            <a:ext cx="956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MobileNetV2: depthwise separable convolution và inverted residual giúp giảm chi phí tính toán.</a:t>
            </a:r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578E34AB-E0C5-4541-890F-278DD23FE4C6}"/>
              </a:ext>
            </a:extLst>
          </p:cNvPr>
          <p:cNvSpPr>
            <a:spLocks noGrp="1"/>
          </p:cNvSpPr>
          <p:nvPr/>
        </p:nvSpPr>
        <p:spPr>
          <a:xfrm>
            <a:off x="1123950" y="51816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38029943-86F3-48FC-8241-03083E6EAB9E}"/>
              </a:ext>
            </a:extLst>
          </p:cNvPr>
          <p:cNvSpPr>
            <a:spLocks noGrp="1"/>
          </p:cNvSpPr>
          <p:nvPr/>
        </p:nvSpPr>
        <p:spPr>
          <a:xfrm>
            <a:off x="1371600" y="5105400"/>
            <a:ext cx="956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ResNet18: residual block học y = F(x, W) + x, hỗ trợ truyền gradient ổn định.</a:t>
            </a:r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3F93F85D-3DB6-4A21-9B2F-DFD84E8094BD}"/>
              </a:ext>
            </a:extLst>
          </p:cNvPr>
          <p:cNvSpPr>
            <a:spLocks noGrp="1"/>
          </p:cNvSpPr>
          <p:nvPr/>
        </p:nvSpPr>
        <p:spPr>
          <a:xfrm>
            <a:off x="1123950" y="561975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9AA31F64-603A-4705-BAAB-5CDFC9922C70}"/>
              </a:ext>
            </a:extLst>
          </p:cNvPr>
          <p:cNvSpPr>
            <a:spLocks noGrp="1"/>
          </p:cNvSpPr>
          <p:nvPr/>
        </p:nvSpPr>
        <p:spPr>
          <a:xfrm>
            <a:off x="1371600" y="5543550"/>
            <a:ext cx="9563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EfficientNet-B0: compound scaling cân bằng độ sâu, độ rộng và độ phân giải.</a:t>
            </a:r>
          </a:p>
        </p:txBody>
      </p:sp>
    </p:spTree>
    <p:extLst>
      <p:ext uri="{BB962C8B-B14F-4D97-AF65-F5344CB8AC3E}">
        <p14:creationId xmlns:p14="http://schemas.microsoft.com/office/powerpoint/2010/main" val="47030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0E31773E-792A-4A9E-BDEF-B4821718BF6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PHƯƠNG PHÁP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C773B7C-DC4C-4E19-AA90-39FFFE96C446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Tấn công FGSM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19A46BA4-1AD8-49AA-AB4B-C5D8F307124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A4730EB-7CAF-4917-92A1-E71C25EC50BE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6801C42-24B6-4787-949E-4AD531D0CED5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4953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Fast Gradient Sign Method tạo nhiễu theo hướng làm tăng loss của mô hình đối với ảnh đầu vào.</a:t>
            </a:r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99255F4-59DD-4024-8847-11092A4D2319}"/>
              </a:ext>
            </a:extLst>
          </p:cNvPr>
          <p:cNvSpPr>
            <a:spLocks noGrp="1"/>
          </p:cNvSpPr>
          <p:nvPr/>
        </p:nvSpPr>
        <p:spPr>
          <a:xfrm>
            <a:off x="952500" y="302895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FEAD5ED4-4E1D-464D-8E95-36139F7D6364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451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Một bước, chi phí thấp, dễ triển khai.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D42FB6DE-68EB-4D34-A544-50F768C7F0BD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1BD1BF79-EAE5-4E42-BE1C-DF3466F59A69}"/>
              </a:ext>
            </a:extLst>
          </p:cNvPr>
          <p:cNvSpPr>
            <a:spLocks noGrp="1"/>
          </p:cNvSpPr>
          <p:nvPr/>
        </p:nvSpPr>
        <p:spPr>
          <a:xfrm>
            <a:off x="1200150" y="3409950"/>
            <a:ext cx="451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ε điều khiển cường độ nhiễu.</a:t>
            </a: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218CF6D5-5500-49DF-AF43-29BEDAAF5954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8087E587-6716-4FBC-9C77-5D5BBFBA12A6}"/>
              </a:ext>
            </a:extLst>
          </p:cNvPr>
          <p:cNvSpPr>
            <a:spLocks noGrp="1"/>
          </p:cNvSpPr>
          <p:nvPr/>
        </p:nvSpPr>
        <p:spPr>
          <a:xfrm>
            <a:off x="1200150" y="3867150"/>
            <a:ext cx="451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Sau khi thêm nhiễu, ảnh cần được clamp về miền giá trị hợp lệ.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70BFE93D-48BB-49CF-B330-E136C65C99AE}"/>
              </a:ext>
            </a:extLst>
          </p:cNvPr>
          <p:cNvSpPr>
            <a:spLocks noGrp="1"/>
          </p:cNvSpPr>
          <p:nvPr/>
        </p:nvSpPr>
        <p:spPr>
          <a:xfrm>
            <a:off x="6286500" y="1676400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6" name="Hình ảnh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166327"/>
            <a:ext cx="4381500" cy="2144346"/>
          </a:xfrm>
          <a:prstGeom prst="roundRect">
            <a:avLst>
              <a:gd name="adj" fmla="val 3077"/>
            </a:avLst>
          </a:prstGeom>
        </p:spPr>
      </p:pic>
    </p:spTree>
    <p:extLst>
      <p:ext uri="{BB962C8B-B14F-4D97-AF65-F5344CB8AC3E}">
        <p14:creationId xmlns:p14="http://schemas.microsoft.com/office/powerpoint/2010/main" val="168199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3F4D5666-655C-42DE-B1DB-89BC0E24E8D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PHÒNG THỦ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5120B093-8D1B-4DE0-87E6-FC8CC100118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Cơ sở toán học của phòng thủ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90D21125-0414-4AF3-BE78-33D5B9357B4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49673299-4C03-4122-A2CD-3F3FA0CE8D0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ADED2406-6F4F-4E9D-9C9C-488DB362D1DD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Adversarial training tối ưu mô hình trong trường hợp xấu nhất khi ảnh bị nhiễu trong miền cho phép.</a:t>
            </a:r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FF3B3A54-89E0-4CA7-B47D-BB7B6EDDD3B0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103822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DAA11BC5-103C-4DB2-B474-860579E8383C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i="1">
                <a:solidFill>
                  <a:srgbClr val="0F172A"/>
                </a:solidFill>
              </a:defRPr>
            </a:pPr>
            <a:r>
              <a:rPr sz="2100" i="1">
                <a:solidFill>
                  <a:srgbClr val="0F172A"/>
                </a:solidFill>
              </a:rPr>
              <a:t>min_theta E_(x,y) [ max_{||delta||_inf &lt;= epsilon} CE(f_theta(x + delta), y) ]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554CFC34-24DD-4209-9471-7BDA3495F156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4953000" cy="152400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EA954535-5292-4E68-9921-A3F629CAC83A}"/>
              </a:ext>
            </a:extLst>
          </p:cNvPr>
          <p:cNvSpPr>
            <a:spLocks noGrp="1"/>
          </p:cNvSpPr>
          <p:nvPr/>
        </p:nvSpPr>
        <p:spPr>
          <a:xfrm>
            <a:off x="1181100" y="400050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Sinh ảnh đối nghịch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5DA207EE-BA14-411C-A83D-DC6B1B55B8AC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438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i="1">
                <a:solidFill>
                  <a:srgbClr val="0F172A"/>
                </a:solidFill>
              </a:defRPr>
            </a:pPr>
            <a:r>
              <a:rPr sz="1575" i="1">
                <a:solidFill>
                  <a:srgbClr val="0F172A"/>
                </a:solidFill>
              </a:rPr>
              <a:t>x_adv = clamp(x + epsilon * sign(grad_x CE(f_theta(x), y)), 0, 1)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A3C676FD-50EF-4C6E-9C95-0661DEFAEBAA}"/>
              </a:ext>
            </a:extLst>
          </p:cNvPr>
          <p:cNvSpPr>
            <a:spLocks noGrp="1"/>
          </p:cNvSpPr>
          <p:nvPr/>
        </p:nvSpPr>
        <p:spPr>
          <a:xfrm>
            <a:off x="6286500" y="3714750"/>
            <a:ext cx="4953000" cy="1524000"/>
          </a:xfrm>
          <a:prstGeom prst="roundRect">
            <a:avLst>
              <a:gd name="adj" fmla="val 7500"/>
            </a:avLst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4FA246B8-3147-4458-82BA-DAC5136B1CD1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Loss huấn luyện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92A4089C-19D6-433F-ACD1-B2241F71D644}"/>
              </a:ext>
            </a:extLst>
          </p:cNvPr>
          <p:cNvSpPr>
            <a:spLocks noGrp="1"/>
          </p:cNvSpPr>
          <p:nvPr/>
        </p:nvSpPr>
        <p:spPr>
          <a:xfrm>
            <a:off x="6572250" y="4476750"/>
            <a:ext cx="438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i="1">
                <a:solidFill>
                  <a:srgbClr val="0F172A"/>
                </a:solidFill>
              </a:defRPr>
            </a:pPr>
            <a:r>
              <a:rPr sz="1575" i="1">
                <a:solidFill>
                  <a:srgbClr val="0F172A"/>
                </a:solidFill>
              </a:rPr>
              <a:t>L_total = 0.7 * CE(f_theta(x), y) + 0.3 * CE(f_theta(x_adv), y)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F3B3E214-199A-4C12-9839-5E291122CB6E}"/>
              </a:ext>
            </a:extLst>
          </p:cNvPr>
          <p:cNvSpPr>
            <a:spLocks noGrp="1"/>
          </p:cNvSpPr>
          <p:nvPr/>
        </p:nvSpPr>
        <p:spPr>
          <a:xfrm>
            <a:off x="1314450" y="56197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Ý nghĩa: mô hình vẫn học trên ảnh sạch, đồng thời được ép ổn định hơn trước nhiễu FGSM.</a:t>
            </a:r>
          </a:p>
        </p:txBody>
      </p:sp>
    </p:spTree>
    <p:extLst>
      <p:ext uri="{BB962C8B-B14F-4D97-AF65-F5344CB8AC3E}">
        <p14:creationId xmlns:p14="http://schemas.microsoft.com/office/powerpoint/2010/main" val="1259487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AEA5313E-F872-4522-BEA4-1A76E6E99BC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THỰC NGHIỆM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905E229B-B21E-4C35-A805-E3563218BC5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Thiết lập thực nghiệm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0A1A39E5-2D63-49DA-946E-D60BA35D4F6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46F09C1A-B36E-47F5-ADDD-7F214785BEA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DE387FF1-B5DB-47FC-A2DC-65A9FC744D15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A60B10A-81F0-4080-AC10-BC95AB56BFFE}"/>
              </a:ext>
            </a:extLst>
          </p:cNvPr>
          <p:cNvSpPr>
            <a:spLocks noGrp="1"/>
          </p:cNvSpPr>
          <p:nvPr/>
        </p:nvSpPr>
        <p:spPr>
          <a:xfrm>
            <a:off x="1162050" y="1809750"/>
            <a:ext cx="965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Dataset: CIFAR-10, ảnh resize về 224×224 để phù hợp kiến trúc pretrained.</a:t>
            </a:r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F40EA0EB-4438-433B-8BDA-6028428B2BB0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C3A0DEBA-CA2D-42E1-A0B7-B67191075B16}"/>
              </a:ext>
            </a:extLst>
          </p:cNvPr>
          <p:cNvSpPr>
            <a:spLocks noGrp="1"/>
          </p:cNvSpPr>
          <p:nvPr/>
        </p:nvSpPr>
        <p:spPr>
          <a:xfrm>
            <a:off x="1162050" y="2400300"/>
            <a:ext cx="965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Baseline: fine-tune trên dữ liệu sạch, thay lớp phân loại cuối bằng 10 đầu ra.</a:t>
            </a:r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471255F7-A57A-45ED-A78F-CCDA1FD41F2A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485CDD0E-B8CF-4B9C-9693-87AEBD58269D}"/>
              </a:ext>
            </a:extLst>
          </p:cNvPr>
          <p:cNvSpPr>
            <a:spLocks noGrp="1"/>
          </p:cNvSpPr>
          <p:nvPr/>
        </p:nvSpPr>
        <p:spPr>
          <a:xfrm>
            <a:off x="1162050" y="2990850"/>
            <a:ext cx="965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Attack: đánh giá trên các mức ε = 0, 2/255, 4/255, 8/255.</a:t>
            </a:r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88486045-D204-4534-9A56-731E018F3CBD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B3E352E4-09EB-45E4-8DE6-DAECA48BDDA0}"/>
              </a:ext>
            </a:extLst>
          </p:cNvPr>
          <p:cNvSpPr>
            <a:spLocks noGrp="1"/>
          </p:cNvSpPr>
          <p:nvPr/>
        </p:nvSpPr>
        <p:spPr>
          <a:xfrm>
            <a:off x="1162050" y="3581400"/>
            <a:ext cx="965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Defense: FGSM adversarial training, sau đó đánh giá lại với cùng tập test và cùng mức ε.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E34AE36E-F31C-4652-8046-6CF1D02C23C2}"/>
              </a:ext>
            </a:extLst>
          </p:cNvPr>
          <p:cNvSpPr>
            <a:spLocks noGrp="1"/>
          </p:cNvSpPr>
          <p:nvPr/>
        </p:nvSpPr>
        <p:spPr>
          <a:xfrm>
            <a:off x="1047750" y="52197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Ba baseline dùng cùng một bộ tham số huấn luyện; slide sau tóm tắt cấu hình lấy trực tiếp từ notebook.</a:t>
            </a:r>
          </a:p>
        </p:txBody>
      </p:sp>
    </p:spTree>
    <p:extLst>
      <p:ext uri="{BB962C8B-B14F-4D97-AF65-F5344CB8AC3E}">
        <p14:creationId xmlns:p14="http://schemas.microsoft.com/office/powerpoint/2010/main" val="59066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Hình chữ nhật 31">
            <a:extLst>
              <a:ext uri="{FF2B5EF4-FFF2-40B4-BE49-F238E27FC236}">
                <a16:creationId xmlns:a16="http://schemas.microsoft.com/office/drawing/2014/main" id="{4D06E739-51C3-47D7-AFA6-A6BB5673EF1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THỰC NGHIỆM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F28779B4-366A-48AA-B02E-C2C6FE79C60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Cấu hình huấn luyện dùng chung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A2043C76-82FF-4672-8B39-1F6844AF2BC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E1863CB-2DB5-4DA8-80A1-4B03D5215B7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875EBED0-44D6-4F3F-9441-3C452BF2CE1C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Các tham số dưới đây được giữ giống nhau cho MobileNetV2, ResNet18 và EfficientNet-B0.</a:t>
            </a:r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3C7A9A58-FAAD-4D78-92A8-E9F8610E681D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4857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8AEA97A5-2C1C-4077-AAC6-F6BEF1759B09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76200" cy="10668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15003E2A-8394-481B-B1EE-BDD629C1B9FA}"/>
              </a:ext>
            </a:extLst>
          </p:cNvPr>
          <p:cNvSpPr>
            <a:spLocks noGrp="1"/>
          </p:cNvSpPr>
          <p:nvPr/>
        </p:nvSpPr>
        <p:spPr>
          <a:xfrm>
            <a:off x="1047750" y="2552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Optimizer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9700A464-AB84-4AA8-9A3A-BEE12F491A1C}"/>
              </a:ext>
            </a:extLst>
          </p:cNvPr>
          <p:cNvSpPr>
            <a:spLocks noGrp="1"/>
          </p:cNvSpPr>
          <p:nvPr/>
        </p:nvSpPr>
        <p:spPr>
          <a:xfrm>
            <a:off x="2924175" y="2533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Adam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982BED87-E6B2-4D85-91CD-CF56BF7CA639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optim.Adam(model.parameters(), lr=1e-4)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35BA14C6-0F4B-4783-8008-3F2C00C5000B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4857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43A8DC17-E675-46DD-B96F-81940642B629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76200" cy="10668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436773A5-936F-49E3-AB03-42A38717CFE4}"/>
              </a:ext>
            </a:extLst>
          </p:cNvPr>
          <p:cNvSpPr>
            <a:spLocks noGrp="1"/>
          </p:cNvSpPr>
          <p:nvPr/>
        </p:nvSpPr>
        <p:spPr>
          <a:xfrm>
            <a:off x="6477000" y="2552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Learning rate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F3203856-25B2-4A34-B2F2-5B93701694F7}"/>
              </a:ext>
            </a:extLst>
          </p:cNvPr>
          <p:cNvSpPr>
            <a:spLocks noGrp="1"/>
          </p:cNvSpPr>
          <p:nvPr/>
        </p:nvSpPr>
        <p:spPr>
          <a:xfrm>
            <a:off x="8353425" y="2533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1e-4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4AC05E66-E40B-409F-9C52-95D1838C44E7}"/>
              </a:ext>
            </a:extLst>
          </p:cNvPr>
          <p:cNvSpPr>
            <a:spLocks noGrp="1"/>
          </p:cNvSpPr>
          <p:nvPr/>
        </p:nvSpPr>
        <p:spPr>
          <a:xfrm>
            <a:off x="6477000" y="29718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Không dùng scheduler trong notebook</a:t>
            </a:r>
          </a:p>
        </p:txBody>
      </p: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AE12C3DC-3B9F-4948-896F-10B7D48DBBB9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4857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C11456AE-1EAF-4FD9-AA44-D66604179135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76200" cy="10668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31310F32-C7DE-450D-84EF-EFDC8DA4C0DA}"/>
              </a:ext>
            </a:extLst>
          </p:cNvPr>
          <p:cNvSpPr>
            <a:spLocks noGrp="1"/>
          </p:cNvSpPr>
          <p:nvPr/>
        </p:nvSpPr>
        <p:spPr>
          <a:xfrm>
            <a:off x="1047750" y="3886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Batch size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C51F3CB2-3978-4B08-97A3-8D2328ECD678}"/>
              </a:ext>
            </a:extLst>
          </p:cNvPr>
          <p:cNvSpPr>
            <a:spLocks noGrp="1"/>
          </p:cNvSpPr>
          <p:nvPr/>
        </p:nvSpPr>
        <p:spPr>
          <a:xfrm>
            <a:off x="2924175" y="3867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Train: 64 · Test: 1</a:t>
            </a:r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7CEBEF5F-2143-4C05-B826-6680B1DE6843}"/>
              </a:ext>
            </a:extLst>
          </p:cNvPr>
          <p:cNvSpPr>
            <a:spLocks noGrp="1"/>
          </p:cNvSpPr>
          <p:nvPr/>
        </p:nvSpPr>
        <p:spPr>
          <a:xfrm>
            <a:off x="1047750" y="43053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Train shuffle=True, num_workers=2; test shuffle=False</a:t>
            </a:r>
          </a:p>
        </p:txBody>
      </p:sp>
      <p:sp>
        <p:nvSpPr>
          <p:cNvPr id="21" name="Hình chữ nhật: Góc Tròn 20">
            <a:extLst>
              <a:ext uri="{FF2B5EF4-FFF2-40B4-BE49-F238E27FC236}">
                <a16:creationId xmlns:a16="http://schemas.microsoft.com/office/drawing/2014/main" id="{C2B89948-E011-4B1C-A647-1B1FEB3D8222}"/>
              </a:ext>
            </a:extLst>
          </p:cNvPr>
          <p:cNvSpPr>
            <a:spLocks noGrp="1"/>
          </p:cNvSpPr>
          <p:nvPr/>
        </p:nvSpPr>
        <p:spPr>
          <a:xfrm>
            <a:off x="6210300" y="3714750"/>
            <a:ext cx="4857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74C350D8-B7F7-4D4E-BEA2-64F9D1EB8B70}"/>
              </a:ext>
            </a:extLst>
          </p:cNvPr>
          <p:cNvSpPr>
            <a:spLocks noGrp="1"/>
          </p:cNvSpPr>
          <p:nvPr/>
        </p:nvSpPr>
        <p:spPr>
          <a:xfrm>
            <a:off x="6210300" y="3714750"/>
            <a:ext cx="76200" cy="10668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51AB7D02-59D1-416B-88CF-31EDA48E08D4}"/>
              </a:ext>
            </a:extLst>
          </p:cNvPr>
          <p:cNvSpPr>
            <a:spLocks noGrp="1"/>
          </p:cNvSpPr>
          <p:nvPr/>
        </p:nvSpPr>
        <p:spPr>
          <a:xfrm>
            <a:off x="6477000" y="3886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Số epoch</a:t>
            </a:r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98C3EE19-B4E6-4A83-BA03-95CDC3E43E0B}"/>
              </a:ext>
            </a:extLst>
          </p:cNvPr>
          <p:cNvSpPr>
            <a:spLocks noGrp="1"/>
          </p:cNvSpPr>
          <p:nvPr/>
        </p:nvSpPr>
        <p:spPr>
          <a:xfrm>
            <a:off x="8353425" y="3867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5 + 5</a:t>
            </a:r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39F70A96-F249-4241-9869-7D21FA620DDB}"/>
              </a:ext>
            </a:extLst>
          </p:cNvPr>
          <p:cNvSpPr>
            <a:spLocks noGrp="1"/>
          </p:cNvSpPr>
          <p:nvPr/>
        </p:nvSpPr>
        <p:spPr>
          <a:xfrm>
            <a:off x="6477000" y="43053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5 epoch fine-tune clean, 5 epoch FGSM adversarial training</a:t>
            </a:r>
          </a:p>
        </p:txBody>
      </p:sp>
      <p:sp>
        <p:nvSpPr>
          <p:cNvPr id="26" name="Hình chữ nhật: Góc Tròn 25">
            <a:extLst>
              <a:ext uri="{FF2B5EF4-FFF2-40B4-BE49-F238E27FC236}">
                <a16:creationId xmlns:a16="http://schemas.microsoft.com/office/drawing/2014/main" id="{2C4DA784-22F1-452D-8FE3-33627C8FF0E0}"/>
              </a:ext>
            </a:extLst>
          </p:cNvPr>
          <p:cNvSpPr>
            <a:spLocks noGrp="1"/>
          </p:cNvSpPr>
          <p:nvPr/>
        </p:nvSpPr>
        <p:spPr>
          <a:xfrm>
            <a:off x="781050" y="5191125"/>
            <a:ext cx="4857750" cy="781050"/>
          </a:xfrm>
          <a:prstGeom prst="roundRect">
            <a:avLst>
              <a:gd name="adj" fmla="val 14634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93A06FEA-553B-4121-92A6-2619E01290BE}"/>
              </a:ext>
            </a:extLst>
          </p:cNvPr>
          <p:cNvSpPr>
            <a:spLocks noGrp="1"/>
          </p:cNvSpPr>
          <p:nvPr/>
        </p:nvSpPr>
        <p:spPr>
          <a:xfrm>
            <a:off x="1047750" y="53625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Normalization</a:t>
            </a:r>
          </a:p>
        </p:txBody>
      </p:sp>
      <p:sp>
        <p:nvSpPr>
          <p:cNvPr id="28" name="Hình chữ nhật 27">
            <a:extLst>
              <a:ext uri="{FF2B5EF4-FFF2-40B4-BE49-F238E27FC236}">
                <a16:creationId xmlns:a16="http://schemas.microsoft.com/office/drawing/2014/main" id="{72813835-0940-4687-B68A-CCEAF2BBC041}"/>
              </a:ext>
            </a:extLst>
          </p:cNvPr>
          <p:cNvSpPr>
            <a:spLocks noGrp="1"/>
          </p:cNvSpPr>
          <p:nvPr/>
        </p:nvSpPr>
        <p:spPr>
          <a:xfrm>
            <a:off x="2914650" y="53340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Resize(224×224) + ToTensor(); không dùng Normalize(mean/std). FGSM clamp ảnh về [0,1].</a:t>
            </a:r>
          </a:p>
        </p:txBody>
      </p:sp>
      <p:sp>
        <p:nvSpPr>
          <p:cNvPr id="29" name="Hình chữ nhật: Góc Tròn 28">
            <a:extLst>
              <a:ext uri="{FF2B5EF4-FFF2-40B4-BE49-F238E27FC236}">
                <a16:creationId xmlns:a16="http://schemas.microsoft.com/office/drawing/2014/main" id="{C49016BF-5632-4C6C-A00A-0B4C11BAE935}"/>
              </a:ext>
            </a:extLst>
          </p:cNvPr>
          <p:cNvSpPr>
            <a:spLocks noGrp="1"/>
          </p:cNvSpPr>
          <p:nvPr/>
        </p:nvSpPr>
        <p:spPr>
          <a:xfrm>
            <a:off x="6210300" y="5191125"/>
            <a:ext cx="485775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EE2E0674-87E8-49F8-9526-C5C1C274A09E}"/>
              </a:ext>
            </a:extLst>
          </p:cNvPr>
          <p:cNvSpPr>
            <a:spLocks noGrp="1"/>
          </p:cNvSpPr>
          <p:nvPr/>
        </p:nvSpPr>
        <p:spPr>
          <a:xfrm>
            <a:off x="6477000" y="53625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Checkpoint</a:t>
            </a:r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2C13DC81-9A7A-442F-8903-39E1562D1395}"/>
              </a:ext>
            </a:extLst>
          </p:cNvPr>
          <p:cNvSpPr>
            <a:spLocks noGrp="1"/>
          </p:cNvSpPr>
          <p:nvPr/>
        </p:nvSpPr>
        <p:spPr>
          <a:xfrm>
            <a:off x="8343900" y="533400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Lưu state_dict sau clean training và sau FGSM AT: *_clean.pth, *_fgsm_at.pth.</a:t>
            </a:r>
          </a:p>
        </p:txBody>
      </p:sp>
    </p:spTree>
    <p:extLst>
      <p:ext uri="{BB962C8B-B14F-4D97-AF65-F5344CB8AC3E}">
        <p14:creationId xmlns:p14="http://schemas.microsoft.com/office/powerpoint/2010/main" val="53349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B216722-BB2B-4E0F-AE68-7C6E3287058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KẾT QUẢ 1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7B2EA532-381E-449F-AEA0-8BCFD00BCA1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Baseline suy giảm mạnh dưới FGSM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431BB65C-FB71-4EB6-B9D1-46D8C84C3FB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0C00981-218D-451E-BC4A-8559E6D02A45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800100" y="1695450"/>
          <a:ext cx="6858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EF4BB73E-CA18-49C2-AD2D-04079F20AAB1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053CC008-C441-4E9A-BA58-0A0B22664438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609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Insight chính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BE667A0D-C9A2-4E93-B971-573B6B92E824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D6AD133-DE97-4EE8-8AB5-6E03D4D196FC}"/>
              </a:ext>
            </a:extLst>
          </p:cNvPr>
          <p:cNvSpPr>
            <a:spLocks noGrp="1"/>
          </p:cNvSpPr>
          <p:nvPr/>
        </p:nvSpPr>
        <p:spPr>
          <a:xfrm>
            <a:off x="8610600" y="2686050"/>
            <a:ext cx="236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Accuracy sạch đều trên 93%.</a:t>
            </a: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C644AA29-85B7-4E81-B3E6-A2C5A40F18E8}"/>
              </a:ext>
            </a:extLst>
          </p:cNvPr>
          <p:cNvSpPr>
            <a:spLocks noGrp="1"/>
          </p:cNvSpPr>
          <p:nvPr/>
        </p:nvSpPr>
        <p:spPr>
          <a:xfrm>
            <a:off x="8362950" y="327660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ECDE750-C8DA-4FB0-8987-14D3B7509609}"/>
              </a:ext>
            </a:extLst>
          </p:cNvPr>
          <p:cNvSpPr>
            <a:spLocks noGrp="1"/>
          </p:cNvSpPr>
          <p:nvPr/>
        </p:nvSpPr>
        <p:spPr>
          <a:xfrm>
            <a:off x="8610600" y="3200400"/>
            <a:ext cx="236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Chỉ cần ε = 2/255, hiệu năng đã giảm rất sâu.</a:t>
            </a:r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D95A938C-9FA1-4C93-AC9D-B9A607C77ED8}"/>
              </a:ext>
            </a:extLst>
          </p:cNvPr>
          <p:cNvSpPr>
            <a:spLocks noGrp="1"/>
          </p:cNvSpPr>
          <p:nvPr/>
        </p:nvSpPr>
        <p:spPr>
          <a:xfrm>
            <a:off x="8362950" y="3790950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5DDA6439-2D25-4B09-86EC-AFBEBCAF0218}"/>
              </a:ext>
            </a:extLst>
          </p:cNvPr>
          <p:cNvSpPr>
            <a:spLocks noGrp="1"/>
          </p:cNvSpPr>
          <p:nvPr/>
        </p:nvSpPr>
        <p:spPr>
          <a:xfrm>
            <a:off x="8610600" y="3714750"/>
            <a:ext cx="236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Clean accuracy cao không đồng nghĩa với robustness cao.</a:t>
            </a:r>
          </a:p>
        </p:txBody>
      </p:sp>
    </p:spTree>
    <p:extLst>
      <p:ext uri="{BB962C8B-B14F-4D97-AF65-F5344CB8AC3E}">
        <p14:creationId xmlns:p14="http://schemas.microsoft.com/office/powerpoint/2010/main" val="2095518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82733BE6-3260-4562-8B0D-F8DA873B011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MINH HỌA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7C44D53E-078A-4931-AC2C-3220DC4FC85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Ví dụ ảnh bị phân loại sai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854A378-D2F6-4A78-962E-7B7AC384E6D7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EBFA8E7E-820B-4F91-88BC-496256CD3862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12</a:t>
            </a:r>
          </a:p>
        </p:txBody>
      </p:sp>
      <p:pic>
        <p:nvPicPr>
          <p:cNvPr id="17" name="Hình ảnh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008500"/>
            <a:ext cx="5905500" cy="26505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D3AE042B-E573-4EE4-A6ED-68C56B76A4C7}"/>
              </a:ext>
            </a:extLst>
          </p:cNvPr>
          <p:cNvSpPr>
            <a:spLocks noGrp="1"/>
          </p:cNvSpPr>
          <p:nvPr/>
        </p:nvSpPr>
        <p:spPr>
          <a:xfrm>
            <a:off x="7239000" y="2076450"/>
            <a:ext cx="3619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Các thay đổi ở mức pixel có thể rất nhỏ với người quan sát, nhưng đủ làm mô hình chuyển sang nhãn sai.</a:t>
            </a:r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AC9EB746-C96F-466A-9193-8CD94579EFDB}"/>
              </a:ext>
            </a:extLst>
          </p:cNvPr>
          <p:cNvSpPr>
            <a:spLocks noGrp="1"/>
          </p:cNvSpPr>
          <p:nvPr/>
        </p:nvSpPr>
        <p:spPr>
          <a:xfrm>
            <a:off x="7410450" y="36385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70785E6C-120E-4AE8-B73C-C49D898CDDF6}"/>
              </a:ext>
            </a:extLst>
          </p:cNvPr>
          <p:cNvSpPr>
            <a:spLocks noGrp="1"/>
          </p:cNvSpPr>
          <p:nvPr/>
        </p:nvSpPr>
        <p:spPr>
          <a:xfrm>
            <a:off x="7658100" y="356235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Ảnh gốc vẫn giữ hình dạng tổng thể.</a:t>
            </a:r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B75C501B-7EA9-4CE4-B491-E4F65584145E}"/>
              </a:ext>
            </a:extLst>
          </p:cNvPr>
          <p:cNvSpPr>
            <a:spLocks noGrp="1"/>
          </p:cNvSpPr>
          <p:nvPr/>
        </p:nvSpPr>
        <p:spPr>
          <a:xfrm>
            <a:off x="7410450" y="40957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39FE87F0-CCD8-42E8-9DB4-BA2F1A2AC20D}"/>
              </a:ext>
            </a:extLst>
          </p:cNvPr>
          <p:cNvSpPr>
            <a:spLocks noGrp="1"/>
          </p:cNvSpPr>
          <p:nvPr/>
        </p:nvSpPr>
        <p:spPr>
          <a:xfrm>
            <a:off x="7658100" y="401955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Mô hình dựa vào đặc trưng nhạy cảm hơn mắt người.</a:t>
            </a:r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114B759A-FBF5-4442-A6F2-9BD4F852B3E6}"/>
              </a:ext>
            </a:extLst>
          </p:cNvPr>
          <p:cNvSpPr>
            <a:spLocks noGrp="1"/>
          </p:cNvSpPr>
          <p:nvPr/>
        </p:nvSpPr>
        <p:spPr>
          <a:xfrm>
            <a:off x="7410450" y="45529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E42AF162-8524-41F7-A1DC-D917C0F24D56}"/>
              </a:ext>
            </a:extLst>
          </p:cNvPr>
          <p:cNvSpPr>
            <a:spLocks noGrp="1"/>
          </p:cNvSpPr>
          <p:nvPr/>
        </p:nvSpPr>
        <p:spPr>
          <a:xfrm>
            <a:off x="7658100" y="447675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Đây là lý do cần đánh giá trên dữ liệu đối nghịch.</a:t>
            </a:r>
          </a:p>
        </p:txBody>
      </p:sp>
    </p:spTree>
    <p:extLst>
      <p:ext uri="{BB962C8B-B14F-4D97-AF65-F5344CB8AC3E}">
        <p14:creationId xmlns:p14="http://schemas.microsoft.com/office/powerpoint/2010/main" val="170394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59FB19CF-ECC8-404E-94DC-541D9D4CD54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KẾT QUẢ 2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56B62B0F-7BC3-49E2-898C-8147F12D8AB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Adversarial training cải thiện robustness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D9A00DA3-99A8-429B-9F0F-4B402C2241D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41BFF47-98AC-467C-975E-7C145374C89D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666750" y="1619250"/>
          <a:ext cx="75247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20990BB1-EE8F-4C38-9DB9-53EEBE8477A0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D4B4D40D-4C64-42C4-8961-5C6F222547B1}"/>
              </a:ext>
            </a:extLst>
          </p:cNvPr>
          <p:cNvSpPr>
            <a:spLocks noGrp="1"/>
          </p:cNvSpPr>
          <p:nvPr/>
        </p:nvSpPr>
        <p:spPr>
          <a:xfrm>
            <a:off x="8820150" y="211455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Kết luận từ bảng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8B6189CC-21F7-4C21-849A-624298F82DD0}"/>
              </a:ext>
            </a:extLst>
          </p:cNvPr>
          <p:cNvSpPr>
            <a:spLocks noGrp="1"/>
          </p:cNvSpPr>
          <p:nvPr/>
        </p:nvSpPr>
        <p:spPr>
          <a:xfrm>
            <a:off x="8820150" y="27432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28B2374C-287D-4AD0-BCDA-91C6C5181AA4}"/>
              </a:ext>
            </a:extLst>
          </p:cNvPr>
          <p:cNvSpPr>
            <a:spLocks noGrp="1"/>
          </p:cNvSpPr>
          <p:nvPr/>
        </p:nvSpPr>
        <p:spPr>
          <a:xfrm>
            <a:off x="9067800" y="2667000"/>
            <a:ext cx="2114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Robust accuracy tăng rõ ở ε lớn.</a:t>
            </a: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ECD5BAF9-838C-4143-891C-1242D41158BF}"/>
              </a:ext>
            </a:extLst>
          </p:cNvPr>
          <p:cNvSpPr>
            <a:spLocks noGrp="1"/>
          </p:cNvSpPr>
          <p:nvPr/>
        </p:nvSpPr>
        <p:spPr>
          <a:xfrm>
            <a:off x="8820150" y="32385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E3FBA58B-F12F-4337-BF40-E496EBE16ECE}"/>
              </a:ext>
            </a:extLst>
          </p:cNvPr>
          <p:cNvSpPr>
            <a:spLocks noGrp="1"/>
          </p:cNvSpPr>
          <p:nvPr/>
        </p:nvSpPr>
        <p:spPr>
          <a:xfrm>
            <a:off x="9067800" y="3162300"/>
            <a:ext cx="2114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ResNet18 cân bằng nhất giữa clean và robust accuracy.</a:t>
            </a:r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D2ACCA42-57CE-4A19-B631-31567A52FBB4}"/>
              </a:ext>
            </a:extLst>
          </p:cNvPr>
          <p:cNvSpPr>
            <a:spLocks noGrp="1"/>
          </p:cNvSpPr>
          <p:nvPr/>
        </p:nvSpPr>
        <p:spPr>
          <a:xfrm>
            <a:off x="8820150" y="3733800"/>
            <a:ext cx="95250" cy="9525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4082F4BE-FDA1-40D7-8954-E0790764FD54}"/>
              </a:ext>
            </a:extLst>
          </p:cNvPr>
          <p:cNvSpPr>
            <a:spLocks noGrp="1"/>
          </p:cNvSpPr>
          <p:nvPr/>
        </p:nvSpPr>
        <p:spPr>
          <a:xfrm>
            <a:off x="9067800" y="3657600"/>
            <a:ext cx="2114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EfficientNet-B0 cải thiện mạnh nhưng clean accuracy giảm sâu.</a:t>
            </a:r>
          </a:p>
        </p:txBody>
      </p:sp>
    </p:spTree>
    <p:extLst>
      <p:ext uri="{BB962C8B-B14F-4D97-AF65-F5344CB8AC3E}">
        <p14:creationId xmlns:p14="http://schemas.microsoft.com/office/powerpoint/2010/main" val="963533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BC051A2B-7E5B-4076-B38C-51F8B92CFDD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THẢO LUẬN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59BBDF49-3390-4C4E-B31F-DB5E4EF8909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Phân tích kết quả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902E04CF-A3CA-499B-B45F-781EEF1D1EF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566D26F-AAEF-4DD2-BCF9-C7177201D38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464F6649-9D4E-4D4C-B53B-08F31F40FB0E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47625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9FA33530-2CFF-490F-A6EF-2518F732A3D7}"/>
              </a:ext>
            </a:extLst>
          </p:cNvPr>
          <p:cNvSpPr>
            <a:spLocks noGrp="1"/>
          </p:cNvSpPr>
          <p:nvPr/>
        </p:nvSpPr>
        <p:spPr>
          <a:xfrm>
            <a:off x="1162050" y="21526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Thông điệp chính</a:t>
            </a:r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F5F088D2-B6D3-4F49-BEF2-7ADF49371E71}"/>
              </a:ext>
            </a:extLst>
          </p:cNvPr>
          <p:cNvSpPr>
            <a:spLocks noGrp="1"/>
          </p:cNvSpPr>
          <p:nvPr/>
        </p:nvSpPr>
        <p:spPr>
          <a:xfrm>
            <a:off x="1200150" y="28575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9DB4CF8A-5974-46D5-91AF-AF62272C754F}"/>
              </a:ext>
            </a:extLst>
          </p:cNvPr>
          <p:cNvSpPr>
            <a:spLocks noGrp="1"/>
          </p:cNvSpPr>
          <p:nvPr/>
        </p:nvSpPr>
        <p:spPr>
          <a:xfrm>
            <a:off x="1447800" y="2781300"/>
            <a:ext cx="3657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FGSM cho thấy mô hình nhạy với nhiễu có chủ đích.</a:t>
            </a:r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768BFF8F-FA87-4766-AC51-301BCB3972BF}"/>
              </a:ext>
            </a:extLst>
          </p:cNvPr>
          <p:cNvSpPr>
            <a:spLocks noGrp="1"/>
          </p:cNvSpPr>
          <p:nvPr/>
        </p:nvSpPr>
        <p:spPr>
          <a:xfrm>
            <a:off x="1200150" y="33909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7CE551E-1A58-4FCA-8451-EE1EEAD05497}"/>
              </a:ext>
            </a:extLst>
          </p:cNvPr>
          <p:cNvSpPr>
            <a:spLocks noGrp="1"/>
          </p:cNvSpPr>
          <p:nvPr/>
        </p:nvSpPr>
        <p:spPr>
          <a:xfrm>
            <a:off x="1447800" y="3314700"/>
            <a:ext cx="3657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Adversarial training giúp ranh giới quyết định ổn định hơn.</a:t>
            </a:r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7E63FED3-3A92-46E1-B25A-E50C7842D144}"/>
              </a:ext>
            </a:extLst>
          </p:cNvPr>
          <p:cNvSpPr>
            <a:spLocks noGrp="1"/>
          </p:cNvSpPr>
          <p:nvPr/>
        </p:nvSpPr>
        <p:spPr>
          <a:xfrm>
            <a:off x="1200150" y="3924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05CB5541-443E-408A-B264-B94C7C2CDDC2}"/>
              </a:ext>
            </a:extLst>
          </p:cNvPr>
          <p:cNvSpPr>
            <a:spLocks noGrp="1"/>
          </p:cNvSpPr>
          <p:nvPr/>
        </p:nvSpPr>
        <p:spPr>
          <a:xfrm>
            <a:off x="1447800" y="3848100"/>
            <a:ext cx="3657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Có đánh đổi giữa accuracy sạch và độ bền vững đối nghịch.</a:t>
            </a:r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E15D1BA4-59EA-4F2E-820A-DE539600908D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14B50A99-045E-4D13-99BC-2BF03A8FD5BD}"/>
              </a:ext>
            </a:extLst>
          </p:cNvPr>
          <p:cNvSpPr>
            <a:spLocks noGrp="1"/>
          </p:cNvSpPr>
          <p:nvPr/>
        </p:nvSpPr>
        <p:spPr>
          <a:xfrm>
            <a:off x="6877050" y="21526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Kết quả đáng chú ý</a:t>
            </a:r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6AB58B97-A27E-42D0-8648-B93D3B7D9211}"/>
              </a:ext>
            </a:extLst>
          </p:cNvPr>
          <p:cNvSpPr>
            <a:spLocks noGrp="1"/>
          </p:cNvSpPr>
          <p:nvPr/>
        </p:nvSpPr>
        <p:spPr>
          <a:xfrm>
            <a:off x="6915150" y="28575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C5F69099-D771-4A3A-9836-DC0633518F48}"/>
              </a:ext>
            </a:extLst>
          </p:cNvPr>
          <p:cNvSpPr>
            <a:spLocks noGrp="1"/>
          </p:cNvSpPr>
          <p:nvPr/>
        </p:nvSpPr>
        <p:spPr>
          <a:xfrm>
            <a:off x="7162800" y="2781300"/>
            <a:ext cx="3657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ResNet18 đạt cân bằng tốt nhất giữa clean accuracy và robust accuracy.</a:t>
            </a:r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77F65119-9E08-4DE5-961F-3114E3465C22}"/>
              </a:ext>
            </a:extLst>
          </p:cNvPr>
          <p:cNvSpPr>
            <a:spLocks noGrp="1"/>
          </p:cNvSpPr>
          <p:nvPr/>
        </p:nvSpPr>
        <p:spPr>
          <a:xfrm>
            <a:off x="6915150" y="35052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0C55FA87-17C7-4693-A985-19FDE766CD78}"/>
              </a:ext>
            </a:extLst>
          </p:cNvPr>
          <p:cNvSpPr>
            <a:spLocks noGrp="1"/>
          </p:cNvSpPr>
          <p:nvPr/>
        </p:nvSpPr>
        <p:spPr>
          <a:xfrm>
            <a:off x="7162800" y="3429000"/>
            <a:ext cx="3657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EfficientNet-B0 đạt robust accuracy cao sau FGSM AT, nhưng clean accuracy giảm mạnh.</a:t>
            </a:r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8A7A3BED-FCE7-4C30-ABA8-6EA46CC026E2}"/>
              </a:ext>
            </a:extLst>
          </p:cNvPr>
          <p:cNvSpPr>
            <a:spLocks noGrp="1"/>
          </p:cNvSpPr>
          <p:nvPr/>
        </p:nvSpPr>
        <p:spPr>
          <a:xfrm>
            <a:off x="6915150" y="41529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8DC79E90-7B76-442E-A00B-CE0332516967}"/>
              </a:ext>
            </a:extLst>
          </p:cNvPr>
          <p:cNvSpPr>
            <a:spLocks noGrp="1"/>
          </p:cNvSpPr>
          <p:nvPr/>
        </p:nvSpPr>
        <p:spPr>
          <a:xfrm>
            <a:off x="7162800" y="4076700"/>
            <a:ext cx="3657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MobileNetV2 cải thiện rõ sau phòng thủ, phù hợp hướng mô hình nhẹ.</a:t>
            </a:r>
          </a:p>
        </p:txBody>
      </p:sp>
    </p:spTree>
    <p:extLst>
      <p:ext uri="{BB962C8B-B14F-4D97-AF65-F5344CB8AC3E}">
        <p14:creationId xmlns:p14="http://schemas.microsoft.com/office/powerpoint/2010/main" val="278222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D312A38E-095E-4C92-A4FF-A6F218E16E3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KẾT LUẬN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B16607B6-64A8-49D1-B99A-07138FB612D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Kết luận và hướng phát triển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B65442AB-4C2E-4AD9-A385-2FF56E88F6B2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Tấn công và phòng thủ đối nghịch trên bộ phân loại hình ảnh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43C3D58-D43A-4FF9-BCF8-6DB927E84F3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5A0004F-7316-4574-A977-2CD36FEF638F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Kết luận</a:t>
            </a:r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D1C50BE3-8566-4931-9B44-3AA8302F40E7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9014E04E-8347-41DD-A161-69649B34BEB8}"/>
              </a:ext>
            </a:extLst>
          </p:cNvPr>
          <p:cNvSpPr>
            <a:spLocks noGrp="1"/>
          </p:cNvSpPr>
          <p:nvPr/>
        </p:nvSpPr>
        <p:spPr>
          <a:xfrm>
            <a:off x="1295400" y="249555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Các mô hình pretrained đạt hiệu năng cao trên dữ liệu sạch.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3A0B3722-2611-45F0-8A3D-DE5C7D928ED3}"/>
              </a:ext>
            </a:extLst>
          </p:cNvPr>
          <p:cNvSpPr>
            <a:spLocks noGrp="1"/>
          </p:cNvSpPr>
          <p:nvPr/>
        </p:nvSpPr>
        <p:spPr>
          <a:xfrm>
            <a:off x="1047750" y="30861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C25A74BC-AE5D-4FA0-92EC-9A84AD6F1F2F}"/>
              </a:ext>
            </a:extLst>
          </p:cNvPr>
          <p:cNvSpPr>
            <a:spLocks noGrp="1"/>
          </p:cNvSpPr>
          <p:nvPr/>
        </p:nvSpPr>
        <p:spPr>
          <a:xfrm>
            <a:off x="1295400" y="300990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FGSM làm accuracy suy giảm mạnh, chứng minh điểm yếu về robustness.</a:t>
            </a: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E69DAC55-B8D9-480A-8029-0159393F426A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E88D2047-5F8C-4ACF-8863-B7F826AF4C28}"/>
              </a:ext>
            </a:extLst>
          </p:cNvPr>
          <p:cNvSpPr>
            <a:spLocks noGrp="1"/>
          </p:cNvSpPr>
          <p:nvPr/>
        </p:nvSpPr>
        <p:spPr>
          <a:xfrm>
            <a:off x="1295400" y="352425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FGSM adversarial training cải thiện đáng kể khả năng chống chịu.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07DBB0C6-3479-4E60-85AA-753A2A9488E9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Hướng phát triển</a:t>
            </a:r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908EDFDB-9616-468E-B27E-65FFF0FEB7C8}"/>
              </a:ext>
            </a:extLst>
          </p:cNvPr>
          <p:cNvSpPr>
            <a:spLocks noGrp="1"/>
          </p:cNvSpPr>
          <p:nvPr/>
        </p:nvSpPr>
        <p:spPr>
          <a:xfrm>
            <a:off x="6743700" y="25717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069CFF7B-CC90-41CE-9190-F5DEDC1AEDF1}"/>
              </a:ext>
            </a:extLst>
          </p:cNvPr>
          <p:cNvSpPr>
            <a:spLocks noGrp="1"/>
          </p:cNvSpPr>
          <p:nvPr/>
        </p:nvSpPr>
        <p:spPr>
          <a:xfrm>
            <a:off x="6991350" y="249555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Thử attack mạnh hơn: PGD, BIM, C&amp;W.</a:t>
            </a:r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C10782BD-C420-4E63-A785-030364A9C5F0}"/>
              </a:ext>
            </a:extLst>
          </p:cNvPr>
          <p:cNvSpPr>
            <a:spLocks noGrp="1"/>
          </p:cNvSpPr>
          <p:nvPr/>
        </p:nvSpPr>
        <p:spPr>
          <a:xfrm>
            <a:off x="6743700" y="30861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805F9774-14F7-4E48-9F70-ECFC128EF9F1}"/>
              </a:ext>
            </a:extLst>
          </p:cNvPr>
          <p:cNvSpPr>
            <a:spLocks noGrp="1"/>
          </p:cNvSpPr>
          <p:nvPr/>
        </p:nvSpPr>
        <p:spPr>
          <a:xfrm>
            <a:off x="6991350" y="300990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Mở rộng sang dataset phức tạp hơn.</a:t>
            </a:r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E3EFC4F2-A912-4A10-8ADD-E28630F2FEFF}"/>
              </a:ext>
            </a:extLst>
          </p:cNvPr>
          <p:cNvSpPr>
            <a:spLocks noGrp="1"/>
          </p:cNvSpPr>
          <p:nvPr/>
        </p:nvSpPr>
        <p:spPr>
          <a:xfrm>
            <a:off x="6743700" y="36004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5A9F17A6-29DD-4CC4-BF2E-3F3F868F1A02}"/>
              </a:ext>
            </a:extLst>
          </p:cNvPr>
          <p:cNvSpPr>
            <a:spLocks noGrp="1"/>
          </p:cNvSpPr>
          <p:nvPr/>
        </p:nvSpPr>
        <p:spPr>
          <a:xfrm>
            <a:off x="6991350" y="352425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Tối ưu epsilon, learning rate, epoch và chiến lược trộn dữ liệu.</a:t>
            </a:r>
          </a:p>
        </p:txBody>
      </p:sp>
    </p:spTree>
    <p:extLst>
      <p:ext uri="{BB962C8B-B14F-4D97-AF65-F5344CB8AC3E}">
        <p14:creationId xmlns:p14="http://schemas.microsoft.com/office/powerpoint/2010/main" val="217078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C1405D94-7A84-475E-ABCC-0C44CC1676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C58FA51-6893-475E-86CF-A336D1609470}"/>
              </a:ext>
            </a:extLst>
          </p:cNvPr>
          <p:cNvSpPr>
            <a:spLocks noGrp="1"/>
          </p:cNvSpPr>
          <p:nvPr/>
        </p:nvSpPr>
        <p:spPr>
          <a:xfrm>
            <a:off x="1524000" y="2381250"/>
            <a:ext cx="9144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0F172A"/>
                </a:solidFill>
              </a:defRPr>
            </a:pPr>
            <a:r>
              <a:rPr sz="3750" b="1">
                <a:solidFill>
                  <a:srgbClr val="0F172A"/>
                </a:solidFill>
              </a:rPr>
              <a:t>Cảm ơn thầy/cô và các bạn đã lắng nghe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005BEA2-0B80-4195-898E-46D369E66F66}"/>
              </a:ext>
            </a:extLst>
          </p:cNvPr>
          <p:cNvSpPr>
            <a:spLocks noGrp="1"/>
          </p:cNvSpPr>
          <p:nvPr/>
        </p:nvSpPr>
        <p:spPr>
          <a:xfrm>
            <a:off x="3429000" y="38100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Nhóm 12 · IT5416</a:t>
            </a: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E390A7E-FE50-4B4B-AA20-2C3A459AE0EE}"/>
              </a:ext>
            </a:extLst>
          </p:cNvPr>
          <p:cNvSpPr>
            <a:spLocks noGrp="1"/>
          </p:cNvSpPr>
          <p:nvPr/>
        </p:nvSpPr>
        <p:spPr>
          <a:xfrm>
            <a:off x="4953000" y="44767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484192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1445</Words>
  <Application>Microsoft Office PowerPoint</Application>
  <DocSecurity>0</DocSecurity>
  <PresentationFormat>Màn hình rộng</PresentationFormat>
  <Paragraphs>169</Paragraphs>
  <Slides>16</Slides>
  <Notes>16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18" baseType="lpstr">
      <vt:lpstr>Calibri</vt:lpstr>
      <vt:lpstr>ChatGPT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Anh Đức Bùi</cp:lastModifiedBy>
  <cp:revision>1</cp:revision>
  <dcterms:created xsi:type="dcterms:W3CDTF">2026-06-21T09:10:32Z</dcterms:created>
  <dcterms:modified xsi:type="dcterms:W3CDTF">2026-06-21T09:24:14Z</dcterms:modified>
</cp:coreProperties>
</file>